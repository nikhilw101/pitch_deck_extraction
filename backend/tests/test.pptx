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87" r:id="rId4"/>
    <p:sldId id="286" r:id="rId5"/>
    <p:sldId id="288" r:id="rId6"/>
    <p:sldId id="283" r:id="rId7"/>
    <p:sldId id="284" r:id="rId8"/>
    <p:sldId id="285" r:id="rId9"/>
  </p:sldIdLst>
  <p:sldSz cx="18288000" cy="10287000"/>
  <p:notesSz cx="18288000" cy="10287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989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01510C05-E680-8FFE-3424-3082B528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382BE144-E71B-15DA-5697-B5F4B1934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9D4F1237-B19F-70C8-FCE9-7F12D914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25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CED3C431-9910-C22E-C30F-90337CDD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DB8B0C26-51F6-9500-960E-B553FC876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0E965749-4E9C-0518-9731-30942C7C5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242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5A5E9229-EDDB-B3C2-BF65-2703B087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57A67FB1-7413-E2D9-34A6-31129A1E6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1B297E83-CCC1-9E89-650B-70792E7FC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462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6D66D6DD-BF44-1F62-7B03-0BCCC733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21DD1A81-B8F5-AE2A-1026-00B179587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A8910B31-722F-95B7-7909-5AACB12D7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0173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23731BF6-CBBD-DB83-2080-5BBDECCE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40A6127B-7CED-3064-97EB-5D2FA81C7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A5742050-9136-19A7-141E-3DF762AFA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920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587C3B8F-A311-7096-0BB4-41321A44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38D7707A-6047-8706-AC67-7A8A4792F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1643BEBF-96F3-8377-FB44-E6D32090E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7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244625" y="-155574"/>
            <a:ext cx="8750550" cy="200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0100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2496313" y="2381432"/>
            <a:ext cx="13599794" cy="64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0100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63804" y="1829184"/>
            <a:ext cx="581024" cy="703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25372" y="236689"/>
            <a:ext cx="714374" cy="10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1244625" y="-155574"/>
            <a:ext cx="8750550" cy="200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 u="none" strike="noStrike" cap="none">
                <a:solidFill>
                  <a:srgbClr val="0100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2496313" y="2381432"/>
            <a:ext cx="13599794" cy="64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4686313"/>
            <a:ext cx="155766" cy="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4307823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3929332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4307823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3929332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814231" y="3929332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3550841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3550841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814231" y="3550841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429325" y="3550841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3172350"/>
            <a:ext cx="155765" cy="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3172350"/>
            <a:ext cx="155766" cy="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814231" y="3172350"/>
            <a:ext cx="155766" cy="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429326" y="3172351"/>
            <a:ext cx="155764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044422" y="3172350"/>
            <a:ext cx="155765" cy="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583632" y="2794270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198726" y="2794270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6814231" y="2794270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6429325" y="2794270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6044422" y="2794270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659926" y="2794270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2415779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2415779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814231" y="2415779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429325" y="2415779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659926" y="2415779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496357">
            <a:off x="16044422" y="2415779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75021" y="2415779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583632" y="203728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198726" y="203728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6814231" y="203728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6429325" y="203728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6044422" y="203728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659926" y="203728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275021" y="203728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4890115" y="203728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83632" y="165879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198726" y="165879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814231" y="165879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6429325" y="165879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044422" y="165879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659926" y="165879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75021" y="165879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4890115" y="1658798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05621" y="1658798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583632" y="1280307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7198726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6814231" y="1280307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6429325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6044422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275021" y="1280307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659926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4890115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4505621" y="1280307"/>
            <a:ext cx="155766" cy="15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4120716" y="1280307"/>
            <a:ext cx="155765" cy="15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 txBox="1"/>
          <p:nvPr/>
        </p:nvSpPr>
        <p:spPr>
          <a:xfrm>
            <a:off x="2235935" y="1096301"/>
            <a:ext cx="14749243" cy="296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8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Spider Robot for Hazard Detection and Rescue Operations</a:t>
            </a:r>
            <a:endParaRPr lang="en-US" sz="7500" b="1" dirty="0">
              <a:solidFill>
                <a:srgbClr val="01008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2755900" y="5454650"/>
            <a:ext cx="1352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7"/>
          <p:cNvSpPr txBox="1"/>
          <p:nvPr/>
        </p:nvSpPr>
        <p:spPr>
          <a:xfrm>
            <a:off x="6680825" y="5633906"/>
            <a:ext cx="58594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SY-AI&amp;DS-C: Batch-3  Group-06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72;p8">
            <a:extLst>
              <a:ext uri="{FF2B5EF4-FFF2-40B4-BE49-F238E27FC236}">
                <a16:creationId xmlns:a16="http://schemas.microsoft.com/office/drawing/2014/main" id="{AF2F30DB-804B-031B-9C33-859F4742666E}"/>
              </a:ext>
            </a:extLst>
          </p:cNvPr>
          <p:cNvSpPr txBox="1"/>
          <p:nvPr/>
        </p:nvSpPr>
        <p:spPr>
          <a:xfrm>
            <a:off x="5863150" y="6543851"/>
            <a:ext cx="73110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82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Char char="●"/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Aryan Sable				82</a:t>
            </a:r>
          </a:p>
          <a:p>
            <a:pPr marL="457200" lvl="0" indent="-482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Char char="●"/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Nikhil </a:t>
            </a:r>
            <a:r>
              <a:rPr lang="en-US" sz="4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Wagh</a:t>
            </a: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	80</a:t>
            </a:r>
          </a:p>
          <a:p>
            <a:pPr marL="457200" lvl="0" indent="-482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Char char="●"/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Sujal </a:t>
            </a:r>
            <a:r>
              <a:rPr lang="en-US" sz="4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Tawale</a:t>
            </a: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	58</a:t>
            </a:r>
          </a:p>
          <a:p>
            <a:pPr marL="457200" lvl="0" indent="-482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Char char="●"/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Tushar </a:t>
            </a:r>
            <a:r>
              <a:rPr lang="en-US" sz="4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Ghorpade</a:t>
            </a:r>
            <a:r>
              <a:rPr lang="en-US" sz="4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	59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D62F0-B235-325D-11EB-332E6D0CB559}"/>
              </a:ext>
            </a:extLst>
          </p:cNvPr>
          <p:cNvSpPr txBox="1"/>
          <p:nvPr/>
        </p:nvSpPr>
        <p:spPr>
          <a:xfrm>
            <a:off x="3494411" y="4363837"/>
            <a:ext cx="12232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Guided by : Prof. Abha Marathe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/>
          <p:cNvSpPr txBox="1">
            <a:spLocks noGrp="1"/>
          </p:cNvSpPr>
          <p:nvPr>
            <p:ph type="title"/>
          </p:nvPr>
        </p:nvSpPr>
        <p:spPr>
          <a:xfrm>
            <a:off x="1718954" y="387381"/>
            <a:ext cx="4914265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u="sng" dirty="0"/>
              <a:t>Introduction </a:t>
            </a:r>
            <a:endParaRPr sz="7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61E569-AF9D-2B55-E6D4-1D9F25E11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577" y="1748158"/>
            <a:ext cx="1689125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latinLnBrk="0" hangingPunct="0">
              <a:buSzTx/>
              <a:buFont typeface="Arial" panose="020B0604020202020204"/>
              <a:buNone/>
              <a:tabLst/>
            </a:pPr>
            <a:r>
              <a:rPr lang="en-US" altLang="en-US" sz="28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</a:rPr>
              <a:t>This project develops an Spider Robot for hazard detection and rescue. Using IoT-enabled sensors, it navigates dangerous environments and provides real-time data via a web interface. Users can remotely monitor conditions and control movements through a React &amp; Node.js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E7B69-AE28-FD4B-16CE-4D3B44C4728B}"/>
              </a:ext>
            </a:extLst>
          </p:cNvPr>
          <p:cNvSpPr txBox="1"/>
          <p:nvPr/>
        </p:nvSpPr>
        <p:spPr>
          <a:xfrm>
            <a:off x="1713577" y="3410151"/>
            <a:ext cx="1390235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in hazardous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camera feed for remote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control interface using React and Node.js.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communication for seamless data transmission.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4-legged robotic spider with stable mobility.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IoT-enabled hazard detection for safety applications.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monitoring through a user-friendly web dashboard.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the efficiency of rescue operations in high-risk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3C7D2B76-AB9D-F1D7-07DF-DEB56F09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D7C56DDA-E47B-DF72-04E0-3A92804FD425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776E8F58-F3A2-FCFB-EE70-4346ABC8D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9795" y="389872"/>
            <a:ext cx="7028805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Circuit Diagram</a:t>
            </a:r>
            <a:endParaRPr sz="7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3B8F6-048D-2AA5-CD7E-A322DE77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87" y="1582598"/>
            <a:ext cx="12082622" cy="855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4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79DF2DC1-0139-B69C-C1DB-FF9A9AD6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6006638E-16B0-989E-9C40-FF60162A2421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20521D4D-7B53-5E5F-E86C-33C9EEEF3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954" y="387381"/>
            <a:ext cx="6266806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Block Diagram</a:t>
            </a:r>
            <a:endParaRPr sz="7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5A236-38FB-F2AC-C616-10C50397C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8040" y="1828799"/>
            <a:ext cx="17239960" cy="744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91285342-B496-8829-405C-2A788DC2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8D892925-A10F-0463-31D7-1C0017B99999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1F57DE39-3BA9-BBFA-6DC9-E22B171C49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953" y="387381"/>
            <a:ext cx="7028805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Cost of project </a:t>
            </a:r>
            <a:endParaRPr sz="7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12C508-AC03-3EC1-E0BD-3F421C39E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037310"/>
              </p:ext>
            </p:extLst>
          </p:nvPr>
        </p:nvGraphicFramePr>
        <p:xfrm>
          <a:off x="4114800" y="1955800"/>
          <a:ext cx="9202996" cy="6217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749">
                  <a:extLst>
                    <a:ext uri="{9D8B030D-6E8A-4147-A177-3AD203B41FA5}">
                      <a16:colId xmlns:a16="http://schemas.microsoft.com/office/drawing/2014/main" val="764098299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657956875"/>
                    </a:ext>
                  </a:extLst>
                </a:gridCol>
                <a:gridCol w="2079521">
                  <a:extLst>
                    <a:ext uri="{9D8B030D-6E8A-4147-A177-3AD203B41FA5}">
                      <a16:colId xmlns:a16="http://schemas.microsoft.com/office/drawing/2014/main" val="2560385043"/>
                    </a:ext>
                  </a:extLst>
                </a:gridCol>
                <a:gridCol w="2521977">
                  <a:extLst>
                    <a:ext uri="{9D8B030D-6E8A-4147-A177-3AD203B41FA5}">
                      <a16:colId xmlns:a16="http://schemas.microsoft.com/office/drawing/2014/main" val="22446856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Sr. no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Name of Component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Quantity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Pricing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65035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Arduino Nano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250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9436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Bluetooth Module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212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233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Servo Motor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1014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5339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ESP 8266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250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50509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MQ135 Sensor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198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310227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ESP32 Cam Module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550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217187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Dc-Dc Buck Module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45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94731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Li-Ion Battery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350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515824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3D Printed Parts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As required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750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52587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Jumper Wire Set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25 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79323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Burg Male + Female Connectors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27 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736603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PBT Connector 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 Rs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14226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3679 Rs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329021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AA72C4-19D9-70C8-2E4D-DEB0AE5A1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15582"/>
              </p:ext>
            </p:extLst>
          </p:nvPr>
        </p:nvGraphicFramePr>
        <p:xfrm>
          <a:off x="2411364" y="1955800"/>
          <a:ext cx="12609868" cy="7477861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3152467">
                  <a:extLst>
                    <a:ext uri="{9D8B030D-6E8A-4147-A177-3AD203B41FA5}">
                      <a16:colId xmlns:a16="http://schemas.microsoft.com/office/drawing/2014/main" val="764098299"/>
                    </a:ext>
                  </a:extLst>
                </a:gridCol>
                <a:gridCol w="3152467">
                  <a:extLst>
                    <a:ext uri="{9D8B030D-6E8A-4147-A177-3AD203B41FA5}">
                      <a16:colId xmlns:a16="http://schemas.microsoft.com/office/drawing/2014/main" val="1657956875"/>
                    </a:ext>
                  </a:extLst>
                </a:gridCol>
                <a:gridCol w="2849342">
                  <a:extLst>
                    <a:ext uri="{9D8B030D-6E8A-4147-A177-3AD203B41FA5}">
                      <a16:colId xmlns:a16="http://schemas.microsoft.com/office/drawing/2014/main" val="2560385043"/>
                    </a:ext>
                  </a:extLst>
                </a:gridCol>
                <a:gridCol w="3455592">
                  <a:extLst>
                    <a:ext uri="{9D8B030D-6E8A-4147-A177-3AD203B41FA5}">
                      <a16:colId xmlns:a16="http://schemas.microsoft.com/office/drawing/2014/main" val="2244685606"/>
                    </a:ext>
                  </a:extLst>
                </a:gridCol>
              </a:tblGrid>
              <a:tr h="61162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Sr. no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Name of Component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Quantity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Pricing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6503534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Arduino Nano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250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943694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Bluetooth Module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212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23347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Servo Motor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1014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5339810"/>
                  </a:ext>
                </a:extLst>
              </a:tr>
              <a:tr h="2038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ESP 8266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250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5050998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MQ135 Sensor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198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3102272"/>
                  </a:ext>
                </a:extLst>
              </a:tr>
              <a:tr h="61162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ESP32 Cam Module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550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21718791"/>
                  </a:ext>
                </a:extLst>
              </a:tr>
              <a:tr h="61162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Dc-Dc Buck Module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45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9473186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Li-Ion Battery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350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51582427"/>
                  </a:ext>
                </a:extLst>
              </a:tr>
              <a:tr h="61162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3D Printed Parts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As required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750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5258721"/>
                  </a:ext>
                </a:extLst>
              </a:tr>
              <a:tr h="4077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Jumper Wire Set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25 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7932335"/>
                  </a:ext>
                </a:extLst>
              </a:tr>
              <a:tr h="10193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Burg Male + Female Connectors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27 Rs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7366030"/>
                  </a:ext>
                </a:extLst>
              </a:tr>
              <a:tr h="5447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PBT Connector 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8 Rs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1422651"/>
                  </a:ext>
                </a:extLst>
              </a:tr>
              <a:tr h="7083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TOTAL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3679 Rs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2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88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C4BA4FF-DE6B-EAD7-C0CB-24D6A9E5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832D2181-B79D-43CE-F5AF-D8B67DDC7DAD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85F769AD-982E-4DDC-E962-D47240585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954" y="387381"/>
            <a:ext cx="14120812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Work done till date</a:t>
            </a:r>
            <a:endParaRPr sz="7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40CA79-FBFA-F88C-79D2-CE772C680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43839"/>
              </p:ext>
            </p:extLst>
          </p:nvPr>
        </p:nvGraphicFramePr>
        <p:xfrm>
          <a:off x="1836941" y="1651819"/>
          <a:ext cx="15049960" cy="5964077"/>
        </p:xfrm>
        <a:graphic>
          <a:graphicData uri="http://schemas.openxmlformats.org/drawingml/2006/table">
            <a:tbl>
              <a:tblPr/>
              <a:tblGrid>
                <a:gridCol w="15049960">
                  <a:extLst>
                    <a:ext uri="{9D8B030D-6E8A-4147-A177-3AD203B41FA5}">
                      <a16:colId xmlns:a16="http://schemas.microsoft.com/office/drawing/2014/main" val="1003618386"/>
                    </a:ext>
                  </a:extLst>
                </a:gridCol>
              </a:tblGrid>
              <a:tr h="5964077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buFont typeface="+mj-lt"/>
                        <a:buNone/>
                      </a:pP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935" marR="1149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8272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E903FA-B027-6C9B-4D02-778BF9E24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43168"/>
              </p:ext>
            </p:extLst>
          </p:nvPr>
        </p:nvGraphicFramePr>
        <p:xfrm>
          <a:off x="2389242" y="2227006"/>
          <a:ext cx="14497656" cy="511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579">
                  <a:extLst>
                    <a:ext uri="{9D8B030D-6E8A-4147-A177-3AD203B41FA5}">
                      <a16:colId xmlns:a16="http://schemas.microsoft.com/office/drawing/2014/main" val="1272132713"/>
                    </a:ext>
                  </a:extLst>
                </a:gridCol>
                <a:gridCol w="4456687">
                  <a:extLst>
                    <a:ext uri="{9D8B030D-6E8A-4147-A177-3AD203B41FA5}">
                      <a16:colId xmlns:a16="http://schemas.microsoft.com/office/drawing/2014/main" val="1160187280"/>
                    </a:ext>
                  </a:extLst>
                </a:gridCol>
                <a:gridCol w="7678390">
                  <a:extLst>
                    <a:ext uri="{9D8B030D-6E8A-4147-A177-3AD203B41FA5}">
                      <a16:colId xmlns:a16="http://schemas.microsoft.com/office/drawing/2014/main" val="4287011970"/>
                    </a:ext>
                  </a:extLst>
                </a:gridCol>
              </a:tblGrid>
              <a:tr h="1026279"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Week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Duration</a:t>
                      </a:r>
                      <a:endParaRPr lang="en-IN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Work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818627"/>
                  </a:ext>
                </a:extLst>
              </a:tr>
              <a:tr h="989184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 Week 1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4th - 10th Feb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Research &amp; finalization of project scope.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053671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11th - 17th Feb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Component selection &amp; procurement.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526387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 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18th - 24th Feb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Hardware assembly.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786065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25th Feb - 3rd 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2000" dirty="0"/>
                        <a:t>Web dashboard development (React </a:t>
                      </a:r>
                      <a:r>
                        <a:rPr lang="en-IN" sz="2000" dirty="0" err="1"/>
                        <a:t>js</a:t>
                      </a:r>
                      <a:r>
                        <a:rPr lang="en-IN" sz="2000" dirty="0"/>
                        <a:t>)</a:t>
                      </a:r>
                      <a:endParaRPr lang="en-US" sz="2000" dirty="0"/>
                    </a:p>
                    <a:p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512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81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EA061092-DC55-4722-5CD5-C0A75EAA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AEF25DE4-3262-0433-C180-E6B8793771A5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457080F3-52EA-99D4-416E-527728DC7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954" y="387381"/>
            <a:ext cx="14120812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Time line (work plan week wise)</a:t>
            </a:r>
            <a:endParaRPr sz="7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173CC6-C2E7-C46A-9E9E-C6B896958305}"/>
              </a:ext>
            </a:extLst>
          </p:cNvPr>
          <p:cNvGraphicFramePr>
            <a:graphicFrameLocks noGrp="1"/>
          </p:cNvGraphicFramePr>
          <p:nvPr/>
        </p:nvGraphicFramePr>
        <p:xfrm>
          <a:off x="1836941" y="1651819"/>
          <a:ext cx="15049960" cy="5964077"/>
        </p:xfrm>
        <a:graphic>
          <a:graphicData uri="http://schemas.openxmlformats.org/drawingml/2006/table">
            <a:tbl>
              <a:tblPr/>
              <a:tblGrid>
                <a:gridCol w="15049960">
                  <a:extLst>
                    <a:ext uri="{9D8B030D-6E8A-4147-A177-3AD203B41FA5}">
                      <a16:colId xmlns:a16="http://schemas.microsoft.com/office/drawing/2014/main" val="1003618386"/>
                    </a:ext>
                  </a:extLst>
                </a:gridCol>
              </a:tblGrid>
              <a:tr h="5964077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buFont typeface="+mj-lt"/>
                        <a:buNone/>
                      </a:pP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935" marR="1149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8272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4366B9-56DA-8544-F950-AF40A0D05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03230"/>
              </p:ext>
            </p:extLst>
          </p:nvPr>
        </p:nvGraphicFramePr>
        <p:xfrm>
          <a:off x="2389242" y="2227006"/>
          <a:ext cx="14497656" cy="509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579">
                  <a:extLst>
                    <a:ext uri="{9D8B030D-6E8A-4147-A177-3AD203B41FA5}">
                      <a16:colId xmlns:a16="http://schemas.microsoft.com/office/drawing/2014/main" val="1272132713"/>
                    </a:ext>
                  </a:extLst>
                </a:gridCol>
                <a:gridCol w="4456687">
                  <a:extLst>
                    <a:ext uri="{9D8B030D-6E8A-4147-A177-3AD203B41FA5}">
                      <a16:colId xmlns:a16="http://schemas.microsoft.com/office/drawing/2014/main" val="1160187280"/>
                    </a:ext>
                  </a:extLst>
                </a:gridCol>
                <a:gridCol w="7678390">
                  <a:extLst>
                    <a:ext uri="{9D8B030D-6E8A-4147-A177-3AD203B41FA5}">
                      <a16:colId xmlns:a16="http://schemas.microsoft.com/office/drawing/2014/main" val="4287011970"/>
                    </a:ext>
                  </a:extLst>
                </a:gridCol>
              </a:tblGrid>
              <a:tr h="1026279"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Week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Duration</a:t>
                      </a:r>
                      <a:endParaRPr lang="en-IN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Work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818627"/>
                  </a:ext>
                </a:extLst>
              </a:tr>
              <a:tr h="989184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 Week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4th - 10th 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circuit setup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053671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11th - 17th 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Microcontroller programming &amp; motor testing.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526387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18th - 24th 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IoT connectivity setup (MQTT/</a:t>
                      </a:r>
                      <a:r>
                        <a:rPr lang="en-US" sz="2000" dirty="0" err="1"/>
                        <a:t>WebSockets</a:t>
                      </a:r>
                      <a:r>
                        <a:rPr lang="en-US" sz="2000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786065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 Week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25th - 31st Mar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Backend development (Node.js &amp; database (</a:t>
                      </a:r>
                      <a:r>
                        <a:rPr lang="en-US" sz="2000" dirty="0" err="1"/>
                        <a:t>Mysql</a:t>
                      </a:r>
                      <a:r>
                        <a:rPr lang="en-US" sz="2000" dirty="0"/>
                        <a:t>) ). 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512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92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5D132141-183D-070C-6318-90F55ED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65541AA5-A725-1BD4-4628-7980DB83507F}"/>
              </a:ext>
            </a:extLst>
          </p:cNvPr>
          <p:cNvSpPr/>
          <p:nvPr/>
        </p:nvSpPr>
        <p:spPr>
          <a:xfrm>
            <a:off x="1052512" y="0"/>
            <a:ext cx="0" cy="10287000"/>
          </a:xfrm>
          <a:custGeom>
            <a:avLst/>
            <a:gdLst/>
            <a:ahLst/>
            <a:cxnLst/>
            <a:rect l="l" t="t" r="r" b="b"/>
            <a:pathLst>
              <a:path w="120000" h="10287000" extrusionOk="0">
                <a:moveTo>
                  <a:pt x="0" y="0"/>
                </a:moveTo>
                <a:lnTo>
                  <a:pt x="0" y="10286999"/>
                </a:lnTo>
              </a:path>
            </a:pathLst>
          </a:custGeom>
          <a:noFill/>
          <a:ln w="47600" cap="flat" cmpd="sng">
            <a:solidFill>
              <a:srgbClr val="010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97AAAA93-64B6-A604-E6F8-72AB5AC01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954" y="387381"/>
            <a:ext cx="14120812" cy="109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/>
              <a:t>Time line (work plan week wise)</a:t>
            </a:r>
            <a:endParaRPr sz="7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B247A1-A0F0-8B4E-EAF7-2280A46530FA}"/>
              </a:ext>
            </a:extLst>
          </p:cNvPr>
          <p:cNvGraphicFramePr>
            <a:graphicFrameLocks noGrp="1"/>
          </p:cNvGraphicFramePr>
          <p:nvPr/>
        </p:nvGraphicFramePr>
        <p:xfrm>
          <a:off x="1836941" y="1651819"/>
          <a:ext cx="15049960" cy="5964077"/>
        </p:xfrm>
        <a:graphic>
          <a:graphicData uri="http://schemas.openxmlformats.org/drawingml/2006/table">
            <a:tbl>
              <a:tblPr/>
              <a:tblGrid>
                <a:gridCol w="15049960">
                  <a:extLst>
                    <a:ext uri="{9D8B030D-6E8A-4147-A177-3AD203B41FA5}">
                      <a16:colId xmlns:a16="http://schemas.microsoft.com/office/drawing/2014/main" val="1003618386"/>
                    </a:ext>
                  </a:extLst>
                </a:gridCol>
              </a:tblGrid>
              <a:tr h="5964077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buFont typeface="+mj-lt"/>
                        <a:buNone/>
                      </a:pP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935" marR="1149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8272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78529A-F259-9577-213D-C0B2D64F6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704623"/>
              </p:ext>
            </p:extLst>
          </p:nvPr>
        </p:nvGraphicFramePr>
        <p:xfrm>
          <a:off x="2389242" y="2227006"/>
          <a:ext cx="14497656" cy="509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579">
                  <a:extLst>
                    <a:ext uri="{9D8B030D-6E8A-4147-A177-3AD203B41FA5}">
                      <a16:colId xmlns:a16="http://schemas.microsoft.com/office/drawing/2014/main" val="1272132713"/>
                    </a:ext>
                  </a:extLst>
                </a:gridCol>
                <a:gridCol w="4456687">
                  <a:extLst>
                    <a:ext uri="{9D8B030D-6E8A-4147-A177-3AD203B41FA5}">
                      <a16:colId xmlns:a16="http://schemas.microsoft.com/office/drawing/2014/main" val="1160187280"/>
                    </a:ext>
                  </a:extLst>
                </a:gridCol>
                <a:gridCol w="7678390">
                  <a:extLst>
                    <a:ext uri="{9D8B030D-6E8A-4147-A177-3AD203B41FA5}">
                      <a16:colId xmlns:a16="http://schemas.microsoft.com/office/drawing/2014/main" val="4287011970"/>
                    </a:ext>
                  </a:extLst>
                </a:gridCol>
              </a:tblGrid>
              <a:tr h="1026279"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Week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Duration</a:t>
                      </a:r>
                      <a:endParaRPr lang="en-IN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4000" b="1" dirty="0"/>
                        <a:t>Work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818627"/>
                  </a:ext>
                </a:extLst>
              </a:tr>
              <a:tr h="989184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1st - 7th Apr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Integrating frontend with backend.</a:t>
                      </a:r>
                      <a:r>
                        <a:rPr lang="en-US" sz="20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053671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8th - 14th Apr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Testing complete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526387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r>
                        <a:rPr lang="en-IN" sz="2000" dirty="0"/>
                        <a:t> </a:t>
                      </a:r>
                    </a:p>
                    <a:p>
                      <a:r>
                        <a:rPr lang="en-IN" sz="2000" dirty="0"/>
                        <a:t> Week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15th - 21st Apr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Debugging and final improvements.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786065"/>
                  </a:ext>
                </a:extLst>
              </a:tr>
              <a:tr h="1026279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 Week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22nd - 28th Apr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Final testing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512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31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554</TotalTime>
  <Words>559</Words>
  <Application>Microsoft Office PowerPoint</Application>
  <PresentationFormat>Custom</PresentationFormat>
  <Paragraphs>191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Introduction </vt:lpstr>
      <vt:lpstr>Circuit Diagram</vt:lpstr>
      <vt:lpstr>Block Diagram</vt:lpstr>
      <vt:lpstr>Cost of project </vt:lpstr>
      <vt:lpstr>Work done till date</vt:lpstr>
      <vt:lpstr>Time line (work plan week wise)</vt:lpstr>
      <vt:lpstr>Time line (work plan week wise)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Aryan</dc:creator>
  <cp:lastModifiedBy>vilas wagh</cp:lastModifiedBy>
  <cp:revision>16</cp:revision>
  <dcterms:created xsi:type="dcterms:W3CDTF">2024-10-27T12:54:00Z</dcterms:created>
  <dcterms:modified xsi:type="dcterms:W3CDTF">2025-03-06T05:55:36Z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B9DF0F26387D49A587FF9015B5E444BF_13</vt:lpwstr>
  </property>
  <property fmtid="{D5CDD505-2E9C-101B-9397-08002B2CF9AE}" pid="3" name="KSOProductBuildVer">
    <vt:lpwstr>1033-12.2.0.19805</vt:lpwstr>
  </property>
</Properties>
</file>